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93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B89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ADMINISTRATIVE — DMCA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486572"/>
            <a:ext cx="8010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dirty="0">
                <a:solidFill>
                  <a:srgbClr val="EDE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AILES DE LIBERTÉ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566928" y="2607747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i="1" dirty="0">
                <a:solidFill>
                  <a:srgbClr val="B89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FRANCE 1940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19506" y="3174989"/>
            <a:ext cx="3657600" cy="20117"/>
          </a:xfrm>
          <a:prstGeom prst="rect">
            <a:avLst/>
          </a:prstGeom>
          <a:solidFill>
            <a:srgbClr val="C8AA58"/>
          </a:solidFill>
          <a:ln w="12700">
            <a:solidFill>
              <a:srgbClr val="C8AA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3304834"/>
            <a:ext cx="8010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EDE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Qualification mémorielle nationale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6928" y="3782151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7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Direction de la mémoire, de la culture et des archives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0284" y="4055401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CAB/2026A/2218-AFT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A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DICoD — N° 29038088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A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Ministère des Armées · Février 2026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9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3069A0C-D699-4C3F-93A6-9FA5474C0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788" y="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EXÉCUTIF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0101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3800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Résumé exécutif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4572000" cy="20117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996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présente saisine vise la qualification mémorielle nationale d'engagements individuels documentés au sein des Forces Françaises de l'Intérieur (1939–1945).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99339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Elle repose sur une base archivistique nominative préexistante, identifiée et traçable.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24140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Elle relève de la compétence exclusive de la Direction de la mémoire, de la culture et des archives.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283464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Elle ne comporte aucune incidence budgétaire ni contractuelle.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325526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Elle ne constitue ni un dispositif diplomatique ni un programme culturel subventionné.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4864608"/>
            <a:ext cx="7461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CAB/2026A/2218-AFT · DICoD N° 29038088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DE L'INSTRUCTION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0101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3800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 de l'instruction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4572000" cy="20117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36192"/>
            <a:ext cx="3867912" cy="1371600"/>
          </a:xfrm>
          <a:prstGeom prst="rect">
            <a:avLst/>
          </a:prstGeom>
          <a:solidFill>
            <a:srgbClr val="EAEAE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36192"/>
            <a:ext cx="3867912" cy="36576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64208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B89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947672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mémorielle nationale — caractère ponctuel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09160" y="1536192"/>
            <a:ext cx="3867912" cy="1371600"/>
          </a:xfrm>
          <a:prstGeom prst="rect">
            <a:avLst/>
          </a:prstGeom>
          <a:solidFill>
            <a:srgbClr val="EAEAE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536192"/>
            <a:ext cx="3867912" cy="36576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64208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B89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1947672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Seconde Guerre mondiale (1939–1945 exclusivement)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3063240"/>
            <a:ext cx="3867912" cy="1371600"/>
          </a:xfrm>
          <a:prstGeom prst="rect">
            <a:avLst/>
          </a:prstGeom>
          <a:solidFill>
            <a:srgbClr val="EAEAE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063240"/>
            <a:ext cx="3867912" cy="36576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191256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B89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TERRITOIRE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" y="3474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Engagements documentés sur le territoire français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09160" y="3063240"/>
            <a:ext cx="3867912" cy="1371600"/>
          </a:xfrm>
          <a:prstGeom prst="rect">
            <a:avLst/>
          </a:prstGeom>
          <a:solidFill>
            <a:srgbClr val="EAEAE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3063240"/>
            <a:ext cx="3867912" cy="36576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191256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B89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AUTORITÉ COMPÉTENTE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474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Appréciation souveraine de la DMCA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66928" y="4864608"/>
            <a:ext cx="7461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 constitue ni un dispositif diplomatique ni un acte normatif.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JURIDIQUE APPLICABLE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0101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EDE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Cadre juridique applicable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4572000" cy="20117"/>
          </a:xfrm>
          <a:prstGeom prst="rect">
            <a:avLst/>
          </a:prstGeom>
          <a:solidFill>
            <a:srgbClr val="C8AA58"/>
          </a:solidFill>
          <a:ln w="12700">
            <a:solidFill>
              <a:srgbClr val="C8AA5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78000"/>
          </a:blip>
          <a:srcRect/>
          <a:stretch/>
        </p:blipFill>
        <p:spPr>
          <a:xfrm>
            <a:off x="5074920" y="1444752"/>
            <a:ext cx="384048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536192"/>
            <a:ext cx="2084832" cy="1463040"/>
          </a:xfrm>
          <a:prstGeom prst="rect">
            <a:avLst/>
          </a:prstGeom>
          <a:solidFill>
            <a:srgbClr val="1C2D4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1536192"/>
            <a:ext cx="2084832" cy="36576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66420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B89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" y="20116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DE9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Aucun engagement postérieur au 8 mai 1945 n'est inclus.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816352" y="1536192"/>
            <a:ext cx="2084832" cy="1463040"/>
          </a:xfrm>
          <a:prstGeom prst="rect">
            <a:avLst/>
          </a:prstGeom>
          <a:solidFill>
            <a:srgbClr val="1C2D4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16352" y="1536192"/>
            <a:ext cx="2084832" cy="36576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80944" y="166420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B89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TERRITOIRE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980944" y="20116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DE9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Opérations FFI reconnues sur le sol français.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66928" y="3154680"/>
            <a:ext cx="2084832" cy="1463040"/>
          </a:xfrm>
          <a:prstGeom prst="rect">
            <a:avLst/>
          </a:prstGeom>
          <a:solidFill>
            <a:srgbClr val="1C2D4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3154680"/>
            <a:ext cx="2084832" cy="36576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328269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B89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31520" y="3630168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DE9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Engagements individuels nominativement établis.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816352" y="3154680"/>
            <a:ext cx="2084832" cy="1463040"/>
          </a:xfrm>
          <a:prstGeom prst="rect">
            <a:avLst/>
          </a:prstGeom>
          <a:solidFill>
            <a:srgbClr val="1C2D4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816352" y="3154680"/>
            <a:ext cx="2084832" cy="36576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80944" y="328269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B89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980944" y="3630168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DE9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Fonds archivistiques préexistants et vérifiables.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66928" y="4828032"/>
            <a:ext cx="8010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B89C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Cadre strict : 1939–1945  ·  Territoire français  ·  FFI exclusivement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ARCHIVISTIQUE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0101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3800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archivistique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4572000" cy="20117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0" y="1417320"/>
            <a:ext cx="342900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536192"/>
            <a:ext cx="1481328" cy="310896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1536192"/>
            <a:ext cx="1481328" cy="36576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16642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TsDAVO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6656" y="222199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89C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Ukraine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9808" y="2523744"/>
            <a:ext cx="1115568" cy="18288"/>
          </a:xfrm>
          <a:prstGeom prst="rect">
            <a:avLst/>
          </a:prstGeom>
          <a:solidFill>
            <a:srgbClr val="2E426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" y="265176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AAB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Dossiers individuels identifiés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9AAB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Références nominatives traçables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157984" y="1536192"/>
            <a:ext cx="1481328" cy="310896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57984" y="1536192"/>
            <a:ext cx="1481328" cy="36576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67712" y="16642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Historique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Défense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267712" y="222199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89C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France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340864" y="2523744"/>
            <a:ext cx="1115568" cy="18288"/>
          </a:xfrm>
          <a:prstGeom prst="rect">
            <a:avLst/>
          </a:prstGeom>
          <a:solidFill>
            <a:srgbClr val="2E426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67712" y="265176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AAB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Fonds FFI 1939–1945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9AAB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Sources complémentaires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749040" y="1536192"/>
            <a:ext cx="1481328" cy="310896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49040" y="1536192"/>
            <a:ext cx="1481328" cy="36576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58768" y="16642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régionales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58768" y="222199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89C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France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931920" y="2523744"/>
            <a:ext cx="1115568" cy="18288"/>
          </a:xfrm>
          <a:prstGeom prst="rect">
            <a:avLst/>
          </a:prstGeom>
          <a:solidFill>
            <a:srgbClr val="2E426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58768" y="265176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AAB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Éléments contextuels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9AAB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territoriaux documentés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66928" y="48097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Sources préexistantes — aucune création documentaire nouvelle.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0101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EDE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Protocole méthodologique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4572000" cy="20117"/>
          </a:xfrm>
          <a:prstGeom prst="rect">
            <a:avLst/>
          </a:prstGeom>
          <a:solidFill>
            <a:srgbClr val="C8AA58"/>
          </a:solidFill>
          <a:ln w="12700">
            <a:solidFill>
              <a:srgbClr val="C8AA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36192"/>
            <a:ext cx="2548128" cy="3246120"/>
          </a:xfrm>
          <a:prstGeom prst="rect">
            <a:avLst/>
          </a:prstGeom>
          <a:solidFill>
            <a:srgbClr val="1C2D4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72768"/>
            <a:ext cx="2548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C8A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841248" y="2487168"/>
            <a:ext cx="1999488" cy="22860"/>
          </a:xfrm>
          <a:prstGeom prst="rect">
            <a:avLst/>
          </a:prstGeom>
          <a:solidFill>
            <a:srgbClr val="2E426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578608"/>
            <a:ext cx="2273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nominative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3145536"/>
            <a:ext cx="22738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AAB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Croisement des registres individuels — consolidation des données archivistiques entre les fonds TsDAVO et Service Historique de la Défense.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7936" y="1536192"/>
            <a:ext cx="2548128" cy="3246120"/>
          </a:xfrm>
          <a:prstGeom prst="rect">
            <a:avLst/>
          </a:prstGeom>
          <a:solidFill>
            <a:srgbClr val="1C2D4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7936" y="1572768"/>
            <a:ext cx="2548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C8A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3572256" y="2487168"/>
            <a:ext cx="1999488" cy="22860"/>
          </a:xfrm>
          <a:prstGeom prst="rect">
            <a:avLst/>
          </a:prstGeom>
          <a:solidFill>
            <a:srgbClr val="2E426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35096" y="2578608"/>
            <a:ext cx="2273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archivistique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35096" y="3145536"/>
            <a:ext cx="22738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AAB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Références inventoriées et opposables — Archives d'État préexistantes, vérifiables. Aucune création documentaire nouvelle.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28944" y="1536192"/>
            <a:ext cx="2548128" cy="3246120"/>
          </a:xfrm>
          <a:prstGeom prst="rect">
            <a:avLst/>
          </a:prstGeom>
          <a:solidFill>
            <a:srgbClr val="1C2D4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28944" y="1572768"/>
            <a:ext cx="2548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C8A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6303264" y="2487168"/>
            <a:ext cx="1999488" cy="22860"/>
          </a:xfrm>
          <a:prstGeom prst="rect">
            <a:avLst/>
          </a:prstGeom>
          <a:solidFill>
            <a:srgbClr val="2E426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6104" y="2578608"/>
            <a:ext cx="2273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scientifique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6104" y="3145536"/>
            <a:ext cx="22738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AAB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Avis complémentaire possible du SHD le cas échéant. Appréciation strictement individuelle à chaque étape.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" y="4828032"/>
            <a:ext cx="8010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B89C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Chaque dossier fait l'objet d'une appréciation strictement individuelle.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ADMINISTRATIVE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0101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3800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Compétence administrative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4572000" cy="20117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99616"/>
            <a:ext cx="3867912" cy="324612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99616"/>
            <a:ext cx="3867912" cy="36576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627632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B89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RELÈVE DE 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8096" y="2093976"/>
            <a:ext cx="164592" cy="164592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01168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combattante nationale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68096" y="2606040"/>
            <a:ext cx="164592" cy="164592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52374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d'engagements individuels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8096" y="3118104"/>
            <a:ext cx="164592" cy="164592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03580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directe DMCA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68096" y="3630168"/>
            <a:ext cx="164592" cy="164592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54787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strict 1939–1945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709160" y="1499616"/>
            <a:ext cx="3867912" cy="3246120"/>
          </a:xfrm>
          <a:prstGeom prst="rect">
            <a:avLst/>
          </a:prstGeom>
          <a:solidFill>
            <a:srgbClr val="EAEAE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499616"/>
            <a:ext cx="3867912" cy="36576"/>
          </a:xfrm>
          <a:prstGeom prst="rect">
            <a:avLst/>
          </a:prstGeom>
          <a:solidFill>
            <a:srgbClr val="D0C9B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1627632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RELÈVE PAS DE 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10328" y="2093976"/>
            <a:ext cx="164592" cy="164592"/>
          </a:xfrm>
          <a:prstGeom prst="rect">
            <a:avLst/>
          </a:prstGeom>
          <a:solidFill>
            <a:srgbClr val="D0C9B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01168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diplomatique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910328" y="2606040"/>
            <a:ext cx="164592" cy="164592"/>
          </a:xfrm>
          <a:prstGeom prst="rect">
            <a:avLst/>
          </a:prstGeom>
          <a:solidFill>
            <a:srgbClr val="D0C9B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52374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culturel subventionné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910328" y="3118104"/>
            <a:ext cx="164592" cy="164592"/>
          </a:xfrm>
          <a:prstGeom prst="rect">
            <a:avLst/>
          </a:prstGeom>
          <a:solidFill>
            <a:srgbClr val="D0C9B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303580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normatif ou réglementaire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910328" y="3630168"/>
            <a:ext cx="164592" cy="164592"/>
          </a:xfrm>
          <a:prstGeom prst="rect">
            <a:avLst/>
          </a:prstGeom>
          <a:solidFill>
            <a:srgbClr val="D0C9B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54787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de droit collectif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CARACTÈRE NON CONSTITUTIF DE PRÉCÉDENT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0101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EDE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 constitutif de précédent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4114800" cy="20117"/>
          </a:xfrm>
          <a:prstGeom prst="rect">
            <a:avLst/>
          </a:prstGeom>
          <a:solidFill>
            <a:srgbClr val="C8AA58"/>
          </a:solidFill>
          <a:ln w="12700">
            <a:solidFill>
              <a:srgbClr val="C8AA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5448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AAB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présente qualification repose exclusivement sur des dossiers individuels nominativement établis.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05740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AAB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Elle ne crée aucune catégorie nouvelle de bénéficiaires.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56032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AAB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Elle n'ouvre aucun droit automatique, collectif ou extensible.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30632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AAB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Elle ne constitue pas un précédent générique applicable à d'autres situations.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364992"/>
            <a:ext cx="2743200" cy="20117"/>
          </a:xfrm>
          <a:prstGeom prst="rect">
            <a:avLst/>
          </a:prstGeom>
          <a:solidFill>
            <a:srgbClr val="C8AA58"/>
          </a:solidFill>
          <a:ln w="12700">
            <a:solidFill>
              <a:srgbClr val="C8AA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56616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L'État conserve à chaque étape la pleine maîtrise de l'instruction et le pouvoir discrétionnaire d'appréciation souveraine.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GARANTIES STRUCTURELLES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0101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3800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Garanties structurelles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4572000" cy="20117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81328"/>
            <a:ext cx="8010144" cy="603504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31520" y="158191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72768"/>
            <a:ext cx="7187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transfert budgétaire n'est sollicité.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2139696"/>
            <a:ext cx="8010144" cy="603504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31520" y="2240280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231136"/>
            <a:ext cx="7187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engagement contractuel n'est requis.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66928" y="2798064"/>
            <a:ext cx="8010144" cy="603504"/>
          </a:xfrm>
          <a:prstGeom prst="rect">
            <a:avLst/>
          </a:prstGeom>
          <a:solidFill>
            <a:srgbClr val="EAEAE8"/>
          </a:solidFill>
          <a:ln w="12700">
            <a:solidFill>
              <a:srgbClr val="EAEAE8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31520" y="2898648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889504"/>
            <a:ext cx="7187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L'initiative est intégralement portée par le Consortium.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66928" y="3456432"/>
            <a:ext cx="8010144" cy="603504"/>
          </a:xfrm>
          <a:prstGeom prst="rect">
            <a:avLst/>
          </a:prstGeom>
          <a:solidFill>
            <a:srgbClr val="EDE9E0"/>
          </a:solidFill>
          <a:ln w="12700">
            <a:solidFill>
              <a:srgbClr val="EDE9E0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31520" y="3557016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547872"/>
            <a:ext cx="7187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communication institutionnelle demeure soumise à validation ministérielle.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566928" y="4114800"/>
            <a:ext cx="8010144" cy="603504"/>
          </a:xfrm>
          <a:prstGeom prst="rect">
            <a:avLst/>
          </a:prstGeom>
          <a:solidFill>
            <a:srgbClr val="EAEAE8"/>
          </a:solidFill>
          <a:ln w="12700">
            <a:solidFill>
              <a:srgbClr val="EAEAE8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31520" y="4215384"/>
            <a:ext cx="402336" cy="40233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0160" y="4206240"/>
            <a:ext cx="7187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Ministère conserve une discrétion complète à chaque étape.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ADMINISTRATIF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0101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3800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Parcours administratif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4572000" cy="20117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743200"/>
            <a:ext cx="8010144" cy="22860"/>
          </a:xfrm>
          <a:prstGeom prst="rect">
            <a:avLst/>
          </a:prstGeom>
          <a:solidFill>
            <a:srgbClr val="D0C9B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64208"/>
            <a:ext cx="1371600" cy="914400"/>
          </a:xfrm>
          <a:prstGeom prst="rect">
            <a:avLst/>
          </a:prstGeom>
          <a:solidFill>
            <a:srgbClr val="EAEAE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64208"/>
            <a:ext cx="1371600" cy="36576"/>
          </a:xfrm>
          <a:prstGeom prst="rect">
            <a:avLst/>
          </a:prstGeom>
          <a:solidFill>
            <a:srgbClr val="D0C9B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37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179576" y="2670048"/>
            <a:ext cx="146304" cy="146304"/>
          </a:xfrm>
          <a:prstGeom prst="ellipse">
            <a:avLst/>
          </a:prstGeom>
          <a:solidFill>
            <a:srgbClr val="D0C9B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926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Enregistrement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N° 29038088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99666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9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26564" y="1664208"/>
            <a:ext cx="1371600" cy="914400"/>
          </a:xfrm>
          <a:prstGeom prst="rect">
            <a:avLst/>
          </a:prstGeom>
          <a:solidFill>
            <a:srgbClr val="EAEAE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6564" y="1664208"/>
            <a:ext cx="1371600" cy="36576"/>
          </a:xfrm>
          <a:prstGeom prst="rect">
            <a:avLst/>
          </a:prstGeom>
          <a:solidFill>
            <a:srgbClr val="D0C9B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18004" y="1737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Ministre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839212" y="2670048"/>
            <a:ext cx="146304" cy="146304"/>
          </a:xfrm>
          <a:prstGeom prst="ellipse">
            <a:avLst/>
          </a:prstGeom>
          <a:solidFill>
            <a:srgbClr val="D0C9B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18004" y="2926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Transmission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CAB/2026A/2218-AFT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59302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9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86200" y="1664208"/>
            <a:ext cx="1371600" cy="914400"/>
          </a:xfrm>
          <a:prstGeom prst="rect">
            <a:avLst/>
          </a:prstGeom>
          <a:solidFill>
            <a:srgbClr val="EAEAE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6200" y="1664208"/>
            <a:ext cx="1371600" cy="36576"/>
          </a:xfrm>
          <a:prstGeom prst="rect">
            <a:avLst/>
          </a:prstGeom>
          <a:solidFill>
            <a:srgbClr val="D0C9B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1737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Ministère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Armées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98848" y="2670048"/>
            <a:ext cx="146304" cy="146304"/>
          </a:xfrm>
          <a:prstGeom prst="ellipse">
            <a:avLst/>
          </a:prstGeom>
          <a:solidFill>
            <a:srgbClr val="D0C9B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2926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Instruction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centralisée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18938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9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45836" y="1664208"/>
            <a:ext cx="1371600" cy="9144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45836" y="1664208"/>
            <a:ext cx="1371600" cy="36576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37276" y="1737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58484" y="2670048"/>
            <a:ext cx="146304" cy="146304"/>
          </a:xfrm>
          <a:prstGeom prst="ellipse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37276" y="2926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Examen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avis d'opportunité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78574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9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205472" y="1664208"/>
            <a:ext cx="1371600" cy="914400"/>
          </a:xfrm>
          <a:prstGeom prst="rect">
            <a:avLst/>
          </a:prstGeom>
          <a:solidFill>
            <a:srgbClr val="EAEAE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05472" y="1664208"/>
            <a:ext cx="1371600" cy="36576"/>
          </a:xfrm>
          <a:prstGeom prst="rect">
            <a:avLst/>
          </a:prstGeom>
          <a:solidFill>
            <a:srgbClr val="D0C9B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96912" y="1737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818120" y="2670048"/>
            <a:ext cx="146304" cy="146304"/>
          </a:xfrm>
          <a:prstGeom prst="ellipse">
            <a:avLst/>
          </a:prstGeom>
          <a:solidFill>
            <a:srgbClr val="D0C9B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96912" y="2926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Avis scientifique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cas échéant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" y="4828032"/>
            <a:ext cx="8010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L'État conserve l'initiative et la maîtrise de l'instruction à chaque étape.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PATRIMONIAL DISTINCT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EDE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Composante patrimoniale distincte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113385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89C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sans incidence sur l'instruction administrative  ·  cf. Annexe 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4114800" cy="20117"/>
          </a:xfrm>
          <a:prstGeom prst="rect">
            <a:avLst/>
          </a:prstGeom>
          <a:solidFill>
            <a:srgbClr val="C8AA58"/>
          </a:solidFill>
          <a:ln w="12700">
            <a:solidFill>
              <a:srgbClr val="C8AA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27632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45 maquettes documentées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AAB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Collection Igor Shatokhin · Échelle 1:33 · Précision 98%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Sélection de documents archivistiques reproduits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AAB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FFI 1939–1945 · Fonds TsDAVO et SHD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Présentation pédagogique contextualisée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950208"/>
            <a:ext cx="4572000" cy="22860"/>
          </a:xfrm>
          <a:prstGeom prst="rect">
            <a:avLst/>
          </a:prstGeom>
          <a:solidFill>
            <a:srgbClr val="2E426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6A7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Cette composante demeure indépendante de la qualification mémorielle.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74920" y="47731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0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Spitfire Mk.V-B · 341° Escadron « Alsace » · F.A.F.L. 1941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</a:t>
            </a:r>
            <a:endParaRPr lang="en-US" sz="9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6D52229-84F4-442D-8E9C-A9E64C2A8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630" y="1487074"/>
            <a:ext cx="3622093" cy="24859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DU DOSSIER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0101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3800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du dossier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4572000" cy="20117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36192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présent dossier 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9933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 vise aucune reconnaissance collective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5877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 modifie aucun cadre réglementaire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318211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 crée aucune obligation administrative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37764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 comporte aucune demande de financement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4315968"/>
            <a:ext cx="5486400" cy="20117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462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 limite strictement à l'examen mémoriel d'engagements individuels documentés.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0101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EDE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Synthèse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2743200" cy="20117"/>
          </a:xfrm>
          <a:prstGeom prst="rect">
            <a:avLst/>
          </a:prstGeom>
          <a:solidFill>
            <a:srgbClr val="C8AA58"/>
          </a:solidFill>
          <a:ln w="12700">
            <a:solidFill>
              <a:srgbClr val="C8AA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867912" cy="777240"/>
          </a:xfrm>
          <a:prstGeom prst="rect">
            <a:avLst/>
          </a:prstGeom>
          <a:solidFill>
            <a:srgbClr val="1C2D4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867912" cy="36576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737360"/>
            <a:ext cx="3465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EDE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 clair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709160" y="1572768"/>
            <a:ext cx="3867912" cy="777240"/>
          </a:xfrm>
          <a:prstGeom prst="rect">
            <a:avLst/>
          </a:prstGeom>
          <a:solidFill>
            <a:srgbClr val="1C2D4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572768"/>
            <a:ext cx="3867912" cy="36576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737360"/>
            <a:ext cx="3465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EDE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Cadre juridique strict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66928" y="2514600"/>
            <a:ext cx="3867912" cy="777240"/>
          </a:xfrm>
          <a:prstGeom prst="rect">
            <a:avLst/>
          </a:prstGeom>
          <a:solidFill>
            <a:srgbClr val="1C2D4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514600"/>
            <a:ext cx="3867912" cy="36576"/>
          </a:xfrm>
          <a:prstGeom prst="rect">
            <a:avLst/>
          </a:prstGeom>
          <a:solidFill>
            <a:srgbClr val="2E426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679192"/>
            <a:ext cx="3465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AAB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archivistique préexistante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709160" y="2514600"/>
            <a:ext cx="3867912" cy="777240"/>
          </a:xfrm>
          <a:prstGeom prst="rect">
            <a:avLst/>
          </a:prstGeom>
          <a:solidFill>
            <a:srgbClr val="1C2D4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514600"/>
            <a:ext cx="3867912" cy="36576"/>
          </a:xfrm>
          <a:prstGeom prst="rect">
            <a:avLst/>
          </a:prstGeom>
          <a:solidFill>
            <a:srgbClr val="2E426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2679192"/>
            <a:ext cx="3465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AAB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Compétence DMCA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66928" y="3456432"/>
            <a:ext cx="3867912" cy="777240"/>
          </a:xfrm>
          <a:prstGeom prst="rect">
            <a:avLst/>
          </a:prstGeom>
          <a:solidFill>
            <a:srgbClr val="1C2D4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456432"/>
            <a:ext cx="3867912" cy="36576"/>
          </a:xfrm>
          <a:prstGeom prst="rect">
            <a:avLst/>
          </a:prstGeom>
          <a:solidFill>
            <a:srgbClr val="2E426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621024"/>
            <a:ext cx="3465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AAB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Absence d'impact budgétaire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709160" y="3456432"/>
            <a:ext cx="3867912" cy="777240"/>
          </a:xfrm>
          <a:prstGeom prst="rect">
            <a:avLst/>
          </a:prstGeom>
          <a:solidFill>
            <a:srgbClr val="1C2D4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3456432"/>
            <a:ext cx="3867912" cy="36576"/>
          </a:xfrm>
          <a:prstGeom prst="rect">
            <a:avLst/>
          </a:prstGeom>
          <a:solidFill>
            <a:srgbClr val="2E4260"/>
          </a:solidFill>
          <a:ln w="12700">
            <a:solidFill>
              <a:srgbClr val="2E42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3621024"/>
            <a:ext cx="3465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AAB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Absence de précédent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FORMELLE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0101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3800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Demande formelle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4572000" cy="20117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72768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Nous sollicitons, s'il en est décidé ainsi, l'engagement d'une instruction administrative au titre d'une qualification mémorielle nationale d'engagements individuels FFI (1939–1945), dans le respect du cadre juridique exposé ci-dessus et dans les limites strictes définies au présent dossier.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798064"/>
            <a:ext cx="3657600" cy="20117"/>
          </a:xfrm>
          <a:prstGeom prst="rect">
            <a:avLst/>
          </a:prstGeom>
          <a:solidFill>
            <a:srgbClr val="B89C4D"/>
          </a:solidFill>
          <a:ln w="12700">
            <a:solidFill>
              <a:srgbClr val="B89C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9443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Nous demeurons à disposition pour tout complément d'information ou transmission documentaire.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8351" y="3668380"/>
            <a:ext cx="8318809" cy="1298448"/>
          </a:xfrm>
          <a:prstGeom prst="rect">
            <a:avLst/>
          </a:prstGeom>
          <a:solidFill>
            <a:srgbClr val="EAEAE8"/>
          </a:solidFill>
          <a:ln w="12700">
            <a:solidFill>
              <a:srgbClr val="D0C9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351" y="3593593"/>
            <a:ext cx="8318809" cy="45719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337" y="3712464"/>
            <a:ext cx="4591031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B89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INTERLOCUTEUR INSTITUTIONNEL</a:t>
            </a:r>
            <a:endParaRPr lang="en-US" sz="800" dirty="0"/>
          </a:p>
          <a:p>
            <a:pPr marL="0" indent="0">
              <a:buNone/>
            </a:pPr>
            <a:r>
              <a:rPr lang="en-US" sz="11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Wings of Liberty – International Aviation Heritage &amp; Memory Consortium</a:t>
            </a:r>
            <a:endParaRPr lang="en-US" sz="8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Canal privilégié : Voie diplomatique</a:t>
            </a:r>
            <a:endParaRPr lang="en-US" sz="8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Attaché militaire · Ambassade d'Ukraine en France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45150" y="3712464"/>
            <a:ext cx="350624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B89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800" dirty="0"/>
          </a:p>
          <a:p>
            <a:pPr marL="0" indent="0">
              <a:buNone/>
            </a:pPr>
            <a:r>
              <a:rPr lang="en-US" sz="1100" dirty="0">
                <a:solidFill>
                  <a:srgbClr val="0E1A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Ihor BOLDIN — Fondateur &amp; Directeur, Fondation Culture.UA</a:t>
            </a:r>
            <a:endParaRPr lang="en-US" sz="800" dirty="0"/>
          </a:p>
          <a:p>
            <a:pPr marL="0" indent="0">
              <a:buNone/>
            </a:pPr>
            <a:r>
              <a:rPr lang="en-US" sz="1100" dirty="0">
                <a:solidFill>
                  <a:srgbClr val="0E1A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Iryna DYACHUK, PhD — Coordinatrice France</a:t>
            </a:r>
            <a:endParaRPr lang="en-US" sz="800" dirty="0"/>
          </a:p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Contact : ihor.boldin@cultureua.org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5039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</a:t>
            </a:r>
            <a:endParaRPr lang="en-US" sz="9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ED684EC-B426-43FD-8D00-BE138ADED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145" y="243045"/>
            <a:ext cx="1547975" cy="13297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819</Words>
  <Application>Microsoft Office PowerPoint</Application>
  <PresentationFormat>Экран (16:9)</PresentationFormat>
  <Paragraphs>185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Ailes de Liberté — Instruction DMCA 2026</dc:title>
  <dc:subject>PptxGenJS Presentation</dc:subject>
  <dc:creator>PptxGenJS</dc:creator>
  <cp:lastModifiedBy>User</cp:lastModifiedBy>
  <cp:revision>3</cp:revision>
  <dcterms:created xsi:type="dcterms:W3CDTF">2026-02-23T13:42:11Z</dcterms:created>
  <dcterms:modified xsi:type="dcterms:W3CDTF">2026-02-23T15:35:02Z</dcterms:modified>
</cp:coreProperties>
</file>